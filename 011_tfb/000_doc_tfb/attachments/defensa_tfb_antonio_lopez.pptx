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8" r:id="rId3"/>
    <p:sldId id="271" r:id="rId4"/>
    <p:sldId id="272" r:id="rId5"/>
    <p:sldId id="273" r:id="rId6"/>
    <p:sldId id="274" r:id="rId7"/>
    <p:sldId id="275" r:id="rId8"/>
    <p:sldId id="27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A44"/>
    <a:srgbClr val="E1A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695" autoAdjust="0"/>
    <p:restoredTop sz="94717"/>
  </p:normalViewPr>
  <p:slideViewPr>
    <p:cSldViewPr snapToGrid="0" snapToObjects="1">
      <p:cViewPr>
        <p:scale>
          <a:sx n="66" d="100"/>
          <a:sy n="66" d="100"/>
        </p:scale>
        <p:origin x="112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B904-B8B2-4418-9E27-2828CD1F24D2}" type="datetimeFigureOut">
              <a:rPr lang="es-ES" smtClean="0"/>
              <a:t>07/10/2026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5E587-6A2E-4254-B355-BF1A197AC9C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77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9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0"/>
            <a:ext cx="12192001" cy="68967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BFB0E9-E377-0344-B686-469EF5D5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034" y="3539346"/>
            <a:ext cx="6090669" cy="1092622"/>
          </a:xfr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GT America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197DBA-B4EB-4099-8DCC-338C5A4574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1617"/>
          <a:stretch/>
        </p:blipFill>
        <p:spPr>
          <a:xfrm>
            <a:off x="1424219" y="1336646"/>
            <a:ext cx="29067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1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98909D-3BCB-5D4D-92E1-47F7DCEE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618" y="6370204"/>
            <a:ext cx="2743200" cy="365125"/>
          </a:xfrm>
        </p:spPr>
        <p:txBody>
          <a:bodyPr/>
          <a:lstStyle>
            <a:lvl1pPr>
              <a:defRPr sz="800">
                <a:latin typeface="GT America" pitchFamily="2" charset="77"/>
              </a:defRPr>
            </a:lvl1pPr>
          </a:lstStyle>
          <a:p>
            <a:fld id="{DFA3C4CA-1939-A047-9FE4-F8769865EBC3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7E5939-C68B-4B89-B73C-D0910899DC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6F24B9B-2E30-41D6-B4FE-DECE4A8A15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755" y="1779717"/>
            <a:ext cx="1126490" cy="2032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FEA20F-1E8D-40CD-9373-E2CEAFD3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3094933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21AD7D-8525-4EA5-8339-59FC0277F5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416" y="246642"/>
            <a:ext cx="2513330" cy="98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88004" y="2353154"/>
            <a:ext cx="3797300" cy="37973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65848" y="2350038"/>
            <a:ext cx="3797300" cy="37973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732" y="2350038"/>
            <a:ext cx="3797300" cy="37973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3436" y="2350038"/>
            <a:ext cx="3797300" cy="379730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A1A4E86-A123-4882-9335-A6947382CB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0620" y="2350038"/>
            <a:ext cx="3797300" cy="37973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623B3A3-ED3C-4472-A344-C0F3B5E7E54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6545" y="2350038"/>
            <a:ext cx="3797300" cy="37973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FB4ED80A-137C-4F82-B8A2-F523180D856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854" y="4688152"/>
            <a:ext cx="381000" cy="10287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D2F706B-E22A-47D8-8ABB-428D18F8E9A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955" y="4783402"/>
            <a:ext cx="838200" cy="8382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0460FC2-3238-4204-88A1-5FC95C7E3AA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432" y="4967552"/>
            <a:ext cx="977900" cy="7493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0D3F672F-E928-45E2-826B-C45A7053E222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636" y="4865952"/>
            <a:ext cx="850900" cy="85090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81640167-5546-4EC7-9BD2-435482730A9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6840" y="4973902"/>
            <a:ext cx="736600" cy="7366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7064EE3-B57B-44CF-AE8E-268AFE5B359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4024" y="5177102"/>
            <a:ext cx="520700" cy="5334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178833ED-AE1D-430D-AE3D-16C905E1C738}"/>
              </a:ext>
            </a:extLst>
          </p:cNvPr>
          <p:cNvSpPr txBox="1"/>
          <p:nvPr userDrawn="1"/>
        </p:nvSpPr>
        <p:spPr>
          <a:xfrm>
            <a:off x="-2880929" y="2541359"/>
            <a:ext cx="1419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D92720A-7800-47DB-904F-587F6F1617AB}"/>
              </a:ext>
            </a:extLst>
          </p:cNvPr>
          <p:cNvSpPr txBox="1"/>
          <p:nvPr userDrawn="1"/>
        </p:nvSpPr>
        <p:spPr>
          <a:xfrm>
            <a:off x="463850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E1AB34"/>
                </a:solidFill>
                <a:latin typeface="GT America Ultra Light" pitchFamily="2" charset="77"/>
              </a:rPr>
              <a:t>02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4706DF-5A01-485F-B345-6D4FC838B316}"/>
              </a:ext>
            </a:extLst>
          </p:cNvPr>
          <p:cNvSpPr txBox="1"/>
          <p:nvPr userDrawn="1"/>
        </p:nvSpPr>
        <p:spPr>
          <a:xfrm>
            <a:off x="38136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03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AE22351-B1D1-47E3-8897-F2F54BC56A68}"/>
              </a:ext>
            </a:extLst>
          </p:cNvPr>
          <p:cNvSpPr txBox="1"/>
          <p:nvPr userDrawn="1"/>
        </p:nvSpPr>
        <p:spPr>
          <a:xfrm>
            <a:off x="7302802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04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411803E-C536-42BA-A1F2-0EB177C52CDA}"/>
              </a:ext>
            </a:extLst>
          </p:cNvPr>
          <p:cNvSpPr txBox="1"/>
          <p:nvPr userDrawn="1"/>
        </p:nvSpPr>
        <p:spPr>
          <a:xfrm>
            <a:off x="10714755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05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EA2F5C3-A514-43A2-90C2-2509EE27D9B7}"/>
              </a:ext>
            </a:extLst>
          </p:cNvPr>
          <p:cNvSpPr txBox="1"/>
          <p:nvPr userDrawn="1"/>
        </p:nvSpPr>
        <p:spPr>
          <a:xfrm>
            <a:off x="138720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06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5C9178B-2AAB-4FE9-912F-9473ED47C302}"/>
              </a:ext>
            </a:extLst>
          </p:cNvPr>
          <p:cNvSpPr txBox="1"/>
          <p:nvPr userDrawn="1"/>
        </p:nvSpPr>
        <p:spPr>
          <a:xfrm>
            <a:off x="-368255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Seguimiento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531B5C7-299E-4F9B-9F86-45C5977F2EA1}"/>
              </a:ext>
            </a:extLst>
          </p:cNvPr>
          <p:cNvSpPr txBox="1"/>
          <p:nvPr userDrawn="1"/>
        </p:nvSpPr>
        <p:spPr>
          <a:xfrm>
            <a:off x="-24152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Posicionamiento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039BA55-CFE4-420C-AFCC-E47A631CB50B}"/>
              </a:ext>
            </a:extLst>
          </p:cNvPr>
          <p:cNvSpPr txBox="1"/>
          <p:nvPr userDrawn="1"/>
        </p:nvSpPr>
        <p:spPr>
          <a:xfrm>
            <a:off x="315138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Oferta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E7F8919-9000-414A-A3F9-42055EB426A2}"/>
              </a:ext>
            </a:extLst>
          </p:cNvPr>
          <p:cNvSpPr txBox="1"/>
          <p:nvPr userDrawn="1"/>
        </p:nvSpPr>
        <p:spPr>
          <a:xfrm>
            <a:off x="668856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Cronograma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62FB3AD-076F-489B-A002-D53FED852A10}"/>
              </a:ext>
            </a:extLst>
          </p:cNvPr>
          <p:cNvSpPr txBox="1"/>
          <p:nvPr userDrawn="1"/>
        </p:nvSpPr>
        <p:spPr>
          <a:xfrm>
            <a:off x="10129594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Presupuesto </a:t>
            </a:r>
          </a:p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2020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04347B7-8B5E-4B10-A5B5-4F18C2A664B8}"/>
              </a:ext>
            </a:extLst>
          </p:cNvPr>
          <p:cNvSpPr txBox="1"/>
          <p:nvPr userDrawn="1"/>
        </p:nvSpPr>
        <p:spPr>
          <a:xfrm>
            <a:off x="13378120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Plan de </a:t>
            </a:r>
          </a:p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crecimiento</a:t>
            </a:r>
          </a:p>
        </p:txBody>
      </p:sp>
    </p:spTree>
    <p:extLst>
      <p:ext uri="{BB962C8B-B14F-4D97-AF65-F5344CB8AC3E}">
        <p14:creationId xmlns:p14="http://schemas.microsoft.com/office/powerpoint/2010/main" val="48204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55257"/>
            <a:ext cx="12192000" cy="610274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50" y="3222566"/>
            <a:ext cx="3164151" cy="31641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0275" y="3219450"/>
            <a:ext cx="3164151" cy="316415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1955" y="3219450"/>
            <a:ext cx="3164151" cy="316415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2180" y="3222566"/>
            <a:ext cx="3164151" cy="31641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9A00E4-15AC-4E29-98D5-75C0DD4E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766" y="9950"/>
            <a:ext cx="5961529" cy="716280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56E621-99D3-4271-B65E-0B4B03EB6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3988" y="4208462"/>
            <a:ext cx="1772298" cy="11398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261AEA6-DE67-47F6-9FA4-B77EE2F68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956" y="4084637"/>
            <a:ext cx="1884363" cy="1306512"/>
          </a:xfrm>
        </p:spPr>
        <p:txBody>
          <a:bodyPr>
            <a:normAutofit/>
          </a:bodyPr>
          <a:lstStyle>
            <a:lvl1pPr>
              <a:defRPr sz="1400" b="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B585C41-3B60-42C4-BC51-6CD6E013B9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9499" y="4024344"/>
            <a:ext cx="1978467" cy="1366805"/>
          </a:xfrm>
        </p:spPr>
        <p:txBody>
          <a:bodyPr>
            <a:normAutofit/>
          </a:bodyPr>
          <a:lstStyle>
            <a:lvl1pPr>
              <a:defRPr sz="120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F7AF264-FC72-4BFC-AEC0-17B384F4D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67708" y="4024314"/>
            <a:ext cx="2273094" cy="1366836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66763DDA-96CF-4DC1-BA51-3B2745457C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9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DFA80B-BC9F-4B8B-A272-44CB3615DF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55257"/>
            <a:ext cx="12192000" cy="6102743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CFFBDA-E685-4795-A601-EF8FA0CFF2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0500" y="1060725"/>
            <a:ext cx="11569700" cy="4489843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809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8CB4E9-91E4-49E4-ADF4-CC4F78BB0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7500" y="1346200"/>
            <a:ext cx="11455400" cy="4762500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5557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-19355"/>
            <a:ext cx="12192001" cy="6896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2003" y="6321813"/>
            <a:ext cx="4114800" cy="365125"/>
          </a:xfrm>
        </p:spPr>
        <p:txBody>
          <a:bodyPr/>
          <a:lstStyle/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7CF98B-A29D-421C-BBAC-691C75D1E9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45188" y="3327377"/>
            <a:ext cx="101623" cy="20324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ACD7DF-8B09-4EEE-9BA7-88A2E0135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2285"/>
          <a:stretch/>
        </p:blipFill>
        <p:spPr>
          <a:xfrm>
            <a:off x="1424219" y="1336646"/>
            <a:ext cx="287346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9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490299-5919-9A46-A335-7FA56859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694BA9-35AB-434E-8A69-F1F467FAF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E0FE40-61AF-9444-A37E-B92C4C759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36EF-CF43-7D4E-A80A-E2DB0AFB10AC}" type="datetimeFigureOut">
              <a:rPr lang="es-ES" smtClean="0"/>
              <a:t>07/10/2026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0D740-00D4-054B-9019-D48F65E77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F88A1-297B-3245-A0FC-66DC8CCB1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3C4CA-1939-A047-9FE4-F8769865EB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46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2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DE5E68-63E5-4160-B9E7-40A8DB4BBBAA}"/>
              </a:ext>
            </a:extLst>
          </p:cNvPr>
          <p:cNvSpPr txBox="1"/>
          <p:nvPr/>
        </p:nvSpPr>
        <p:spPr>
          <a:xfrm>
            <a:off x="1316736" y="3438823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ca-ES" sz="2000" b="1" dirty="0" err="1">
                <a:solidFill>
                  <a:schemeClr val="bg1"/>
                </a:solidFill>
              </a:rPr>
              <a:t>Título</a:t>
            </a:r>
            <a:r>
              <a:rPr lang="ca-ES" sz="2000" b="1" dirty="0">
                <a:solidFill>
                  <a:schemeClr val="bg1"/>
                </a:solidFill>
              </a:rPr>
              <a:t>:</a:t>
            </a:r>
            <a:r>
              <a:rPr lang="ca-ES" sz="2000" dirty="0">
                <a:solidFill>
                  <a:schemeClr val="bg1"/>
                </a:solidFill>
              </a:rPr>
              <a:t> </a:t>
            </a:r>
            <a:r>
              <a:rPr lang="ca-ES" sz="2000" dirty="0" err="1">
                <a:solidFill>
                  <a:schemeClr val="bg1"/>
                </a:solidFill>
              </a:rPr>
              <a:t>Desarrollo</a:t>
            </a:r>
            <a:r>
              <a:rPr lang="ca-ES" sz="2000" dirty="0">
                <a:solidFill>
                  <a:schemeClr val="bg1"/>
                </a:solidFill>
              </a:rPr>
              <a:t> de un entorno GIS modular con </a:t>
            </a:r>
            <a:r>
              <a:rPr lang="ca-ES" sz="2000" dirty="0" err="1">
                <a:solidFill>
                  <a:schemeClr val="bg1"/>
                </a:solidFill>
              </a:rPr>
              <a:t>Deep</a:t>
            </a:r>
            <a:r>
              <a:rPr lang="ca-ES" sz="2000" dirty="0">
                <a:solidFill>
                  <a:schemeClr val="bg1"/>
                </a:solidFill>
              </a:rPr>
              <a:t> </a:t>
            </a:r>
            <a:r>
              <a:rPr lang="ca-ES" sz="2000" dirty="0" err="1">
                <a:solidFill>
                  <a:schemeClr val="bg1"/>
                </a:solidFill>
              </a:rPr>
              <a:t>Learning</a:t>
            </a:r>
            <a:r>
              <a:rPr lang="ca-ES" sz="2000" dirty="0">
                <a:solidFill>
                  <a:schemeClr val="bg1"/>
                </a:solidFill>
              </a:rPr>
              <a:t> y Web GIS</a:t>
            </a:r>
          </a:p>
          <a:p>
            <a:pPr lvl="0"/>
            <a:r>
              <a:rPr lang="ca-ES" sz="2000" b="1" dirty="0">
                <a:solidFill>
                  <a:schemeClr val="bg1"/>
                </a:solidFill>
              </a:rPr>
              <a:t>Autor:</a:t>
            </a:r>
            <a:r>
              <a:rPr lang="ca-ES" sz="2000" dirty="0">
                <a:solidFill>
                  <a:schemeClr val="bg1"/>
                </a:solidFill>
              </a:rPr>
              <a:t> Antonio López</a:t>
            </a:r>
          </a:p>
          <a:p>
            <a:pPr lvl="0"/>
            <a:r>
              <a:rPr lang="ca-ES" sz="2000" b="1" dirty="0">
                <a:solidFill>
                  <a:schemeClr val="bg1"/>
                </a:solidFill>
              </a:rPr>
              <a:t>Tutora:</a:t>
            </a:r>
            <a:r>
              <a:rPr lang="ca-ES" sz="2000" dirty="0">
                <a:solidFill>
                  <a:schemeClr val="bg1"/>
                </a:solidFill>
              </a:rPr>
              <a:t> </a:t>
            </a:r>
            <a:r>
              <a:rPr lang="ca-ES" sz="2000" dirty="0" err="1">
                <a:solidFill>
                  <a:schemeClr val="bg1"/>
                </a:solidFill>
              </a:rPr>
              <a:t>Favela</a:t>
            </a:r>
            <a:r>
              <a:rPr lang="ca-ES" sz="2000" dirty="0">
                <a:solidFill>
                  <a:schemeClr val="bg1"/>
                </a:solidFill>
              </a:rPr>
              <a:t> Natalie </a:t>
            </a:r>
            <a:r>
              <a:rPr lang="ca-ES" sz="2000" dirty="0" err="1">
                <a:solidFill>
                  <a:schemeClr val="bg1"/>
                </a:solidFill>
              </a:rPr>
              <a:t>Quintero</a:t>
            </a:r>
            <a:r>
              <a:rPr lang="ca-ES" sz="2000" dirty="0">
                <a:solidFill>
                  <a:schemeClr val="bg1"/>
                </a:solidFill>
              </a:rPr>
              <a:t> </a:t>
            </a:r>
            <a:r>
              <a:rPr lang="ca-ES" sz="2000" dirty="0" err="1">
                <a:solidFill>
                  <a:schemeClr val="bg1"/>
                </a:solidFill>
              </a:rPr>
              <a:t>Chona</a:t>
            </a:r>
            <a:endParaRPr lang="ca-ES" sz="2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0565AC-DAA7-37A0-6AAB-50468F221369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</p:spTree>
    <p:extLst>
      <p:ext uri="{BB962C8B-B14F-4D97-AF65-F5344CB8AC3E}">
        <p14:creationId xmlns:p14="http://schemas.microsoft.com/office/powerpoint/2010/main" val="397376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8E53-6262-FE80-3316-8C596AF38793}"/>
              </a:ext>
            </a:extLst>
          </p:cNvPr>
          <p:cNvSpPr txBox="1">
            <a:spLocks/>
          </p:cNvSpPr>
          <p:nvPr/>
        </p:nvSpPr>
        <p:spPr>
          <a:xfrm>
            <a:off x="159010" y="1006458"/>
            <a:ext cx="6827005" cy="22488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OBJETIVO DEL PROYECTO:</a:t>
            </a:r>
          </a:p>
          <a:p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Arquitectura base proyecto Gis AI WEB.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1-DESCARGA.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2-ETL.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3-DEEP LEARNING.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4-WEB GIS.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Caso de uso, detección de nubes, Sentinel 2 Cataluña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38F392-991D-5118-50C3-E340E2AD5724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530E6A8-31F1-4D52-DE1D-59A82766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2383"/>
            <a:ext cx="12192000" cy="23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9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0812-13AD-C14D-FCE4-8DADC51E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1947-89D3-A4B8-08E0-B6227AC87D8D}"/>
              </a:ext>
            </a:extLst>
          </p:cNvPr>
          <p:cNvSpPr txBox="1">
            <a:spLocks/>
          </p:cNvSpPr>
          <p:nvPr/>
        </p:nvSpPr>
        <p:spPr>
          <a:xfrm>
            <a:off x="0" y="857963"/>
            <a:ext cx="8472926" cy="26089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1-DESCARGA.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Trabajo con API ESA, protocolo O-Data.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Descarga i selección de bandas necesarias para el entrenamiento del modelo.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B4 = Rojo (Red).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B3 = Verde (Green).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B2 = Azul (Blue).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B8 = Infrarrojo Cercano, delimita los bordes, vegetación, agua, costas, etc..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SWIR = (B11 nieve oscura y B12 nubes brillante).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Índice NDSI = calculo B3, B11 nieve brillante.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Fichero de clasificación SCL sen2cor.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FE6829-42B8-B09A-633B-03673F9D2C0E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9EB7CB-3627-FD99-307A-3867E90AC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22648" y="3447288"/>
            <a:ext cx="2999231" cy="299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2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61E4-F917-9FEE-6D3A-CF7ACD89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9927-4C52-4E18-A1C9-043D612486C1}"/>
              </a:ext>
            </a:extLst>
          </p:cNvPr>
          <p:cNvSpPr txBox="1">
            <a:spLocks/>
          </p:cNvSpPr>
          <p:nvPr/>
        </p:nvSpPr>
        <p:spPr>
          <a:xfrm>
            <a:off x="88771" y="801033"/>
            <a:ext cx="11724763" cy="16403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2-ETL.                                                                                2025-01-01_T31TDG_SCL_GIMP.tif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Colapso de clase.                                                            Capa con el fichero SCL que editaremos.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Clasificación manual de la verdad del terreno.        Capa con el falso color nieve, b11, 8, 4 (SWIR., NIR, Rojo).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Preparación de datos para entrenamiento.              Capa con el RGB.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Aprendizaje supervisado.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2BCE2-540C-64DF-5584-E723BF89A03D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BFE159E-80A0-9D08-62A8-94659F6D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42033" y="2584020"/>
            <a:ext cx="6871501" cy="3861849"/>
          </a:xfrm>
          <a:prstGeom prst="rect">
            <a:avLst/>
          </a:prstGeom>
        </p:spPr>
      </p:pic>
      <p:pic>
        <p:nvPicPr>
          <p:cNvPr id="4" name="Imagen 7">
            <a:extLst>
              <a:ext uri="{FF2B5EF4-FFF2-40B4-BE49-F238E27FC236}">
                <a16:creationId xmlns:a16="http://schemas.microsoft.com/office/drawing/2014/main" id="{9FB50AB3-E427-A803-6DD3-61114A121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9010" y="2584020"/>
            <a:ext cx="4556382" cy="380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3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421B-F145-01D6-A7A4-E352F98E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CD32-C294-54BA-6845-BAEFF9843567}"/>
              </a:ext>
            </a:extLst>
          </p:cNvPr>
          <p:cNvSpPr txBox="1">
            <a:spLocks/>
          </p:cNvSpPr>
          <p:nvPr/>
        </p:nvSpPr>
        <p:spPr>
          <a:xfrm>
            <a:off x="90183" y="790416"/>
            <a:ext cx="10233687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endParaRPr lang="es-ES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3-DEEP LEARNING.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Red neuronal convolucional de Deep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learnig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U-Net desde cero.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Entrenamiento, test, validación-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IoU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Intersection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over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Union).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Aprendizaje supervisado. Skip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Connections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6AA289-6CEA-D647-0F9F-10A6231FB08E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D97D9-E137-518C-6AE3-B7B314F4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9011" y="2318544"/>
            <a:ext cx="4805186" cy="386594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7FFA5A6-767C-009E-66D8-539B11F2C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94049" y="2197791"/>
            <a:ext cx="5825262" cy="466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2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523EC-84E4-6C91-C54C-C3512A3C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734B-AE0D-F2AF-859F-CF60E18CB922}"/>
              </a:ext>
            </a:extLst>
          </p:cNvPr>
          <p:cNvSpPr txBox="1">
            <a:spLocks/>
          </p:cNvSpPr>
          <p:nvPr/>
        </p:nvSpPr>
        <p:spPr>
          <a:xfrm>
            <a:off x="241307" y="939056"/>
            <a:ext cx="4394702" cy="8608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4-WEB GIS.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Docker,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svelte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Maplibre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pmTiles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RGB,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mask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cloud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240028-596B-18CC-589D-3F233DA126D8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B68FD3-44BF-957A-C9CC-E008CC47E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8172" y="1954065"/>
            <a:ext cx="9011963" cy="467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3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C8BC-8DB6-5A20-C0BF-68C6004D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7310-4AEE-B718-3D2B-7D84524B82A1}"/>
              </a:ext>
            </a:extLst>
          </p:cNvPr>
          <p:cNvSpPr txBox="1">
            <a:spLocks/>
          </p:cNvSpPr>
          <p:nvPr/>
        </p:nvSpPr>
        <p:spPr>
          <a:xfrm>
            <a:off x="1523494" y="2162780"/>
            <a:ext cx="1650874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GITHUB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E87F60-00D3-4E9E-5801-1C263C2DE2E3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D4E85C6-B0BE-8819-7AAD-1B46F7E0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8171" y="2160278"/>
            <a:ext cx="11171227" cy="31706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2F4434F-BF09-A063-7D85-01B6A119BE8A}"/>
              </a:ext>
            </a:extLst>
          </p:cNvPr>
          <p:cNvSpPr txBox="1">
            <a:spLocks/>
          </p:cNvSpPr>
          <p:nvPr/>
        </p:nvSpPr>
        <p:spPr>
          <a:xfrm>
            <a:off x="5279639" y="2144284"/>
            <a:ext cx="1834748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APP WEB GIS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24E5BA-332B-3D68-9CCA-E81B0B0E89DF}"/>
              </a:ext>
            </a:extLst>
          </p:cNvPr>
          <p:cNvSpPr txBox="1">
            <a:spLocks/>
          </p:cNvSpPr>
          <p:nvPr/>
        </p:nvSpPr>
        <p:spPr>
          <a:xfrm>
            <a:off x="9434075" y="2155930"/>
            <a:ext cx="1841557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WEB TFB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28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CDE4-318F-DC14-ACD9-5E4DE2FF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D1917BD-D513-CEF6-5907-893F9E6D215F}"/>
              </a:ext>
            </a:extLst>
          </p:cNvPr>
          <p:cNvSpPr txBox="1"/>
          <p:nvPr/>
        </p:nvSpPr>
        <p:spPr>
          <a:xfrm>
            <a:off x="2830068" y="1514111"/>
            <a:ext cx="63413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Discusión</a:t>
            </a:r>
            <a:r>
              <a:rPr lang="ca-ES" sz="1600" b="1" dirty="0"/>
              <a:t> Crítica (</a:t>
            </a:r>
            <a:r>
              <a:rPr lang="ca-ES" sz="1600" b="1" dirty="0" err="1"/>
              <a:t>Limitaciones</a:t>
            </a:r>
            <a:r>
              <a:rPr lang="ca-ES" sz="1600" b="1" dirty="0"/>
              <a:t>):</a:t>
            </a:r>
          </a:p>
          <a:p>
            <a:r>
              <a:rPr lang="ca-ES" sz="1600" dirty="0"/>
              <a:t>Falta del Modelo Digital de </a:t>
            </a:r>
            <a:r>
              <a:rPr lang="ca-ES" sz="1600" dirty="0" err="1"/>
              <a:t>Elevación</a:t>
            </a:r>
            <a:r>
              <a:rPr lang="ca-ES" sz="1600" dirty="0"/>
              <a:t> (DEM): causa </a:t>
            </a:r>
            <a:r>
              <a:rPr lang="ca-ES" sz="1600" dirty="0" err="1"/>
              <a:t>confusión</a:t>
            </a:r>
            <a:r>
              <a:rPr lang="ca-ES" sz="1600" dirty="0"/>
              <a:t> en </a:t>
            </a:r>
            <a:r>
              <a:rPr lang="ca-ES" sz="1600" dirty="0" err="1"/>
              <a:t>sombras</a:t>
            </a:r>
            <a:r>
              <a:rPr lang="ca-ES" sz="1600" dirty="0"/>
              <a:t> </a:t>
            </a:r>
            <a:r>
              <a:rPr lang="ca-ES" sz="1600" dirty="0" err="1"/>
              <a:t>topográficas</a:t>
            </a:r>
            <a:r>
              <a:rPr lang="ca-ES" sz="1600" dirty="0"/>
              <a:t>.</a:t>
            </a:r>
          </a:p>
          <a:p>
            <a:r>
              <a:rPr lang="ca-ES" sz="1600" dirty="0" err="1"/>
              <a:t>Cuello</a:t>
            </a:r>
            <a:r>
              <a:rPr lang="ca-ES" sz="1600" dirty="0"/>
              <a:t> de botella manual: crear la </a:t>
            </a:r>
            <a:r>
              <a:rPr lang="ca-ES" sz="1600" dirty="0" err="1"/>
              <a:t>Verdad</a:t>
            </a:r>
            <a:r>
              <a:rPr lang="ca-ES" sz="1600" dirty="0"/>
              <a:t> </a:t>
            </a:r>
            <a:r>
              <a:rPr lang="ca-ES" sz="1600" dirty="0" err="1"/>
              <a:t>Terreno</a:t>
            </a:r>
            <a:r>
              <a:rPr lang="ca-ES" sz="1600" dirty="0"/>
              <a:t> a mano no es escalable.</a:t>
            </a:r>
          </a:p>
          <a:p>
            <a:r>
              <a:rPr lang="ca-ES" sz="1600" dirty="0"/>
              <a:t>Mascara solo de nubes no de nubes y mar.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1F2F24-2590-655A-CE38-0CA0B5127C87}"/>
              </a:ext>
            </a:extLst>
          </p:cNvPr>
          <p:cNvSpPr txBox="1"/>
          <p:nvPr/>
        </p:nvSpPr>
        <p:spPr>
          <a:xfrm>
            <a:off x="2830068" y="2935861"/>
            <a:ext cx="6099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Futuras</a:t>
            </a:r>
            <a:r>
              <a:rPr lang="ca-ES" sz="1600" b="1" dirty="0"/>
              <a:t> Líneas de </a:t>
            </a:r>
            <a:r>
              <a:rPr lang="ca-ES" sz="1600" b="1" dirty="0" err="1"/>
              <a:t>Investigación</a:t>
            </a:r>
            <a:r>
              <a:rPr lang="ca-ES" sz="1600" b="1" dirty="0"/>
              <a:t>:</a:t>
            </a:r>
          </a:p>
          <a:p>
            <a:r>
              <a:rPr lang="ca-ES" sz="1600" dirty="0" err="1"/>
              <a:t>Inyección</a:t>
            </a:r>
            <a:r>
              <a:rPr lang="ca-ES" sz="1600" dirty="0"/>
              <a:t> de </a:t>
            </a:r>
            <a:r>
              <a:rPr lang="ca-ES" sz="1600" dirty="0" err="1"/>
              <a:t>altimetría</a:t>
            </a:r>
            <a:r>
              <a:rPr lang="ca-ES" sz="1600" dirty="0"/>
              <a:t> (DEM de Cataluña).</a:t>
            </a:r>
          </a:p>
          <a:p>
            <a:r>
              <a:rPr lang="ca-ES" sz="1600" dirty="0"/>
              <a:t>Servidor </a:t>
            </a:r>
            <a:r>
              <a:rPr lang="ca-ES" sz="1600" dirty="0" err="1"/>
              <a:t>reescrito</a:t>
            </a:r>
            <a:r>
              <a:rPr lang="ca-ES" sz="1600" dirty="0"/>
              <a:t> en </a:t>
            </a:r>
            <a:r>
              <a:rPr lang="ca-ES" sz="1600" dirty="0" err="1"/>
              <a:t>Rust</a:t>
            </a:r>
            <a:r>
              <a:rPr lang="ca-ES" sz="1600" dirty="0"/>
              <a:t> para </a:t>
            </a:r>
            <a:r>
              <a:rPr lang="ca-ES" sz="1600" dirty="0" err="1"/>
              <a:t>procesamiento</a:t>
            </a:r>
            <a:r>
              <a:rPr lang="ca-ES" sz="1600" dirty="0"/>
              <a:t> </a:t>
            </a:r>
            <a:r>
              <a:rPr lang="ca-ES" sz="1600" dirty="0" err="1"/>
              <a:t>rápido</a:t>
            </a:r>
            <a:r>
              <a:rPr lang="ca-ES" sz="1600" dirty="0"/>
              <a:t> y </a:t>
            </a:r>
            <a:r>
              <a:rPr lang="ca-ES" sz="1600" dirty="0" err="1"/>
              <a:t>bajo</a:t>
            </a:r>
            <a:r>
              <a:rPr lang="ca-ES" sz="1600" dirty="0"/>
              <a:t> demanda.</a:t>
            </a:r>
          </a:p>
          <a:p>
            <a:r>
              <a:rPr lang="ca-ES" sz="1600" dirty="0"/>
              <a:t>IA Multimodal (</a:t>
            </a:r>
            <a:r>
              <a:rPr lang="ca-ES" sz="1600" dirty="0" err="1"/>
              <a:t>PaliGemma</a:t>
            </a:r>
            <a:r>
              <a:rPr lang="ca-ES" sz="1600" dirty="0"/>
              <a:t>) para corregir </a:t>
            </a:r>
            <a:r>
              <a:rPr lang="ca-ES" sz="1600" dirty="0" err="1"/>
              <a:t>píxeles</a:t>
            </a:r>
            <a:r>
              <a:rPr lang="ca-ES" sz="1600" dirty="0"/>
              <a:t> de forma </a:t>
            </a:r>
            <a:r>
              <a:rPr lang="ca-ES" sz="1600" dirty="0" err="1"/>
              <a:t>automática</a:t>
            </a:r>
            <a:r>
              <a:rPr lang="ca-ES" sz="1600" dirty="0"/>
              <a:t>.</a:t>
            </a:r>
          </a:p>
          <a:p>
            <a:r>
              <a:rPr lang="ca-ES" sz="1600" dirty="0"/>
              <a:t>Usar </a:t>
            </a:r>
            <a:r>
              <a:rPr lang="ca-ES" sz="1600" dirty="0" err="1"/>
              <a:t>modelos</a:t>
            </a:r>
            <a:r>
              <a:rPr lang="ca-ES" sz="1600" dirty="0"/>
              <a:t> </a:t>
            </a:r>
            <a:r>
              <a:rPr lang="ca-ES" sz="1600" dirty="0" err="1"/>
              <a:t>preentrenados</a:t>
            </a:r>
            <a:r>
              <a:rPr lang="ca-ES" sz="1600" dirty="0"/>
              <a:t> como CloudSen12.</a:t>
            </a:r>
          </a:p>
          <a:p>
            <a:endParaRPr lang="ca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3F9D35-CE31-CD37-3315-8113D523C315}"/>
              </a:ext>
            </a:extLst>
          </p:cNvPr>
          <p:cNvSpPr txBox="1"/>
          <p:nvPr/>
        </p:nvSpPr>
        <p:spPr>
          <a:xfrm>
            <a:off x="2830068" y="4303031"/>
            <a:ext cx="60990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Viabilidad</a:t>
            </a:r>
            <a:r>
              <a:rPr lang="ca-ES" sz="1600" b="1" dirty="0"/>
              <a:t> y </a:t>
            </a:r>
            <a:r>
              <a:rPr lang="ca-ES" sz="1600" b="1" dirty="0" err="1"/>
              <a:t>Sostenibilidad</a:t>
            </a:r>
            <a:endParaRPr lang="ca-ES" sz="1600" b="1" dirty="0"/>
          </a:p>
          <a:p>
            <a:r>
              <a:rPr lang="ca-ES" sz="1600" dirty="0" err="1"/>
              <a:t>Filosofía</a:t>
            </a:r>
            <a:r>
              <a:rPr lang="ca-ES" sz="1600" dirty="0"/>
              <a:t> 100% Open </a:t>
            </a:r>
            <a:r>
              <a:rPr lang="ca-ES" sz="1600" dirty="0" err="1"/>
              <a:t>Source</a:t>
            </a:r>
            <a:r>
              <a:rPr lang="ca-ES" sz="1600" dirty="0"/>
              <a:t> y </a:t>
            </a:r>
            <a:r>
              <a:rPr lang="ca-ES" sz="1600" dirty="0" err="1"/>
              <a:t>replicabilidad</a:t>
            </a:r>
            <a:r>
              <a:rPr lang="ca-ES" sz="1600" dirty="0"/>
              <a:t> científica.</a:t>
            </a:r>
          </a:p>
          <a:p>
            <a:r>
              <a:rPr lang="ca-ES" sz="1600" dirty="0" err="1"/>
              <a:t>Alineación</a:t>
            </a:r>
            <a:r>
              <a:rPr lang="ca-ES" sz="1600" dirty="0"/>
              <a:t> directa con Agenda 2030 (ODS: Industria, </a:t>
            </a:r>
            <a:r>
              <a:rPr lang="ca-ES" sz="1600" dirty="0" err="1"/>
              <a:t>Innovación</a:t>
            </a:r>
            <a:r>
              <a:rPr lang="ca-ES" sz="1600" dirty="0"/>
              <a:t> y </a:t>
            </a:r>
            <a:r>
              <a:rPr lang="ca-ES" sz="1600" dirty="0" err="1"/>
              <a:t>Acción</a:t>
            </a:r>
            <a:r>
              <a:rPr lang="ca-ES" sz="1600" dirty="0"/>
              <a:t> por el Clima).</a:t>
            </a:r>
          </a:p>
          <a:p>
            <a:r>
              <a:rPr lang="ca-ES" sz="1600" dirty="0" err="1"/>
              <a:t>Códigos</a:t>
            </a:r>
            <a:r>
              <a:rPr lang="ca-ES" sz="1600" dirty="0"/>
              <a:t> UNESCO (</a:t>
            </a:r>
            <a:r>
              <a:rPr lang="ca-ES" sz="1600" dirty="0" err="1"/>
              <a:t>Aprendizaje</a:t>
            </a:r>
            <a:r>
              <a:rPr lang="ca-ES" sz="1600" dirty="0"/>
              <a:t> </a:t>
            </a:r>
            <a:r>
              <a:rPr lang="ca-ES" sz="1600" dirty="0" err="1"/>
              <a:t>Automático</a:t>
            </a:r>
            <a:r>
              <a:rPr lang="ca-ES" sz="1600" dirty="0"/>
              <a:t> y </a:t>
            </a:r>
            <a:r>
              <a:rPr lang="ca-ES" sz="1600" dirty="0" err="1"/>
              <a:t>Cloud</a:t>
            </a:r>
            <a:r>
              <a:rPr lang="ca-ES" sz="1600" dirty="0"/>
              <a:t> Computing).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1B0EB0-3BB9-A194-C152-14303C328302}"/>
              </a:ext>
            </a:extLst>
          </p:cNvPr>
          <p:cNvSpPr txBox="1"/>
          <p:nvPr/>
        </p:nvSpPr>
        <p:spPr>
          <a:xfrm>
            <a:off x="2830068" y="5670201"/>
            <a:ext cx="63413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Conclusión</a:t>
            </a:r>
            <a:endParaRPr lang="ca-ES" sz="1600" b="1" dirty="0"/>
          </a:p>
          <a:p>
            <a:r>
              <a:rPr lang="ca-ES" sz="1600" dirty="0"/>
              <a:t>El </a:t>
            </a:r>
            <a:r>
              <a:rPr lang="ca-ES" sz="1600" dirty="0" err="1"/>
              <a:t>pipeline</a:t>
            </a:r>
            <a:r>
              <a:rPr lang="ca-ES" sz="1600" dirty="0"/>
              <a:t> base del </a:t>
            </a:r>
            <a:r>
              <a:rPr lang="ca-ES" sz="1600" dirty="0" err="1"/>
              <a:t>proyecto</a:t>
            </a:r>
            <a:r>
              <a:rPr lang="ca-ES" sz="1600" dirty="0"/>
              <a:t> es </a:t>
            </a:r>
            <a:r>
              <a:rPr lang="ca-ES" sz="1600" dirty="0" err="1"/>
              <a:t>replicable</a:t>
            </a:r>
            <a:r>
              <a:rPr lang="ca-ES" sz="1600" dirty="0"/>
              <a:t> y utilitzable en </a:t>
            </a:r>
            <a:r>
              <a:rPr lang="ca-ES" sz="1600" dirty="0" err="1"/>
              <a:t>otros</a:t>
            </a:r>
            <a:r>
              <a:rPr lang="ca-ES" sz="1600" dirty="0"/>
              <a:t> </a:t>
            </a:r>
            <a:r>
              <a:rPr lang="ca-ES" sz="1600" dirty="0" err="1"/>
              <a:t>proyectos</a:t>
            </a:r>
            <a:r>
              <a:rPr lang="ca-ES" sz="1600" dirty="0"/>
              <a:t>.</a:t>
            </a:r>
          </a:p>
          <a:p>
            <a:r>
              <a:rPr lang="ca-ES" sz="1600" dirty="0"/>
              <a:t>Lo </a:t>
            </a:r>
            <a:r>
              <a:rPr lang="ca-ES" sz="1600" dirty="0" err="1"/>
              <a:t>estoy</a:t>
            </a:r>
            <a:r>
              <a:rPr lang="ca-ES" sz="1600" dirty="0"/>
              <a:t> </a:t>
            </a:r>
            <a:r>
              <a:rPr lang="ca-ES" sz="1600" dirty="0" err="1"/>
              <a:t>aplicando</a:t>
            </a:r>
            <a:r>
              <a:rPr lang="ca-ES" sz="1600" dirty="0"/>
              <a:t> en el </a:t>
            </a:r>
            <a:r>
              <a:rPr lang="ca-ES" sz="1600" dirty="0" err="1"/>
              <a:t>satelite</a:t>
            </a:r>
            <a:r>
              <a:rPr lang="ca-ES" sz="1600" dirty="0"/>
              <a:t> MENUT de la agencia espacial Catalana.</a:t>
            </a:r>
          </a:p>
          <a:p>
            <a:r>
              <a:rPr lang="ca-ES" sz="1600" dirty="0"/>
              <a:t>Open Cosmos.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1E4694-A4BF-D5BB-B842-2ED25AD3822A}"/>
              </a:ext>
            </a:extLst>
          </p:cNvPr>
          <p:cNvSpPr txBox="1"/>
          <p:nvPr/>
        </p:nvSpPr>
        <p:spPr>
          <a:xfrm>
            <a:off x="2830068" y="935884"/>
            <a:ext cx="6102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CONCLUSIONES.</a:t>
            </a:r>
          </a:p>
        </p:txBody>
      </p:sp>
    </p:spTree>
    <p:extLst>
      <p:ext uri="{BB962C8B-B14F-4D97-AF65-F5344CB8AC3E}">
        <p14:creationId xmlns:p14="http://schemas.microsoft.com/office/powerpoint/2010/main" val="2899037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2347</TotalTime>
  <Words>430</Words>
  <Application>Microsoft Office PowerPoint</Application>
  <PresentationFormat>Panorámica</PresentationFormat>
  <Paragraphs>58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GT America</vt:lpstr>
      <vt:lpstr>GT America Black</vt:lpstr>
      <vt:lpstr>GT America Medium</vt:lpstr>
      <vt:lpstr>GT America Ultra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Lopez, Antonio</cp:lastModifiedBy>
  <cp:revision>58</cp:revision>
  <dcterms:created xsi:type="dcterms:W3CDTF">2020-06-03T08:24:21Z</dcterms:created>
  <dcterms:modified xsi:type="dcterms:W3CDTF">2026-10-08T14:52:47Z</dcterms:modified>
</cp:coreProperties>
</file>